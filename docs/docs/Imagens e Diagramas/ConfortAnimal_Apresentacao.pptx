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07714FA-D0AC-436F-8C2F-1D5A7EED85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91B2B4-7314-4AED-9AD6-2E70995768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A04821-4734-406D-B248-C561B1538C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104635-FA73-4487-8E9E-D9F9DC734D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FAA09F-4784-4878-BA28-C774BF7A6A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756F096-FE1C-4F38-9F70-6E4A71112E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680A83-0CF4-4CC5-BCD0-0668DEA98A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440C89-0710-4DF9-BC0D-CE4A045A69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100A6A-A3DF-423F-AC27-25B3FA5132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título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D884AD-5CE4-4ED4-A2DB-9E9ED71F84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Sétimo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P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1A39DB-94BA-4ACF-8951-1D35587CBAF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P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9144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🐄 ConfortAnimal</a:t>
            </a:r>
            <a:endParaRPr lang="pt-PT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828800" y="20116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Sistema de Avaliação de Conforto Térmico de Bovinos</a:t>
            </a:r>
            <a:endParaRPr lang="pt-P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3200400" y="27432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97bc62"/>
                </a:solidFill>
                <a:effectLst/>
                <a:uFillTx/>
                <a:latin typeface="Calibri"/>
              </a:rPr>
              <a:t>Desenvolvido em Java com MySQL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2743200" y="411480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UFCD 19 - Java Avançado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Lucas Gonçalves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Março 2026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🌡️ Estresse Térmico em Bovinos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731520" y="1097280"/>
            <a:ext cx="777204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IMPACTOS NEGATIVOS: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📉 Redução de até 30% na produção de leite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⚖️ Diminuição do ganho de peso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🔴 Problemas reprodutivos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😰 Comprometimento do bem-estar animal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540000" y="3060000"/>
            <a:ext cx="8100000" cy="15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NECESSIDADE: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Monitorização contínua das condições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Avaliação objetiva do conforto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Decisão baseada em dados científicos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4320000" y="393192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📊 COMO MEDIR?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ITU (Índice de Temperatura e Umidade)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✅ ConfortAnimal - A Solução Digital</a:t>
            </a:r>
            <a:endParaRPr lang="pt-PT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731520" y="1188720"/>
            <a:ext cx="3840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📋 GESTÃO DE BOVINOS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Cadastro completo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Raça e linhagem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Produção de leite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4619880" y="1188720"/>
            <a:ext cx="38401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🌡️ MONITORIZAÇÃO AMBIENTAL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Temperatura e umidade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Registro por local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Histórico climático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4"/>
          <p:cNvSpPr/>
          <p:nvPr/>
        </p:nvSpPr>
        <p:spPr>
          <a:xfrm>
            <a:off x="914400" y="3200400"/>
            <a:ext cx="7314840" cy="16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📊 AVALIAÇÃO AUTOMÁTICA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i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ITU = 0.8×T + (UR/100)×(T-14.4) + 46.4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1600"/>
            </a:br>
            <a:r>
              <a:rPr lang="en-US" sz="16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✅      CONFORTO  |  ⚠️  ALERTA  |  ❌     ESTRESSE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Arquitetura em 3 Camadas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tangle 2"/>
          <p:cNvSpPr/>
          <p:nvPr/>
        </p:nvSpPr>
        <p:spPr>
          <a:xfrm>
            <a:off x="1371600" y="1097280"/>
            <a:ext cx="6400440" cy="639720"/>
          </a:xfrm>
          <a:prstGeom prst="rect">
            <a:avLst/>
          </a:prstGeom>
          <a:solidFill>
            <a:srgbClr val="97bc62"/>
          </a:solidFill>
          <a:ln w="25400">
            <a:solidFill>
              <a:srgbClr val="2c5f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7080" bIns="127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APRESENTAÇÃO (Swing GUI)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ConfortAnimal.java + Login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4389120" y="17830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↓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4"/>
          <p:cNvSpPr/>
          <p:nvPr/>
        </p:nvSpPr>
        <p:spPr>
          <a:xfrm>
            <a:off x="1371600" y="2011680"/>
            <a:ext cx="6400440" cy="639720"/>
          </a:xfrm>
          <a:prstGeom prst="rect">
            <a:avLst/>
          </a:prstGeom>
          <a:solidFill>
            <a:srgbClr val="2c5f2d"/>
          </a:solidFill>
          <a:ln w="25400">
            <a:solidFill>
              <a:srgbClr val="2c5f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7080" bIns="127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SERVICE (Lógica de Negócio)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AnimalService | AmbienteService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4389120" y="26974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↓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1371600" y="2926080"/>
            <a:ext cx="6400440" cy="639720"/>
          </a:xfrm>
          <a:prstGeom prst="rect">
            <a:avLst/>
          </a:prstGeom>
          <a:solidFill>
            <a:srgbClr val="2c5f2d"/>
          </a:solidFill>
          <a:ln w="25400">
            <a:solidFill>
              <a:srgbClr val="2c5f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7080" bIns="127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PERSISTENCE (Acesso a Dados)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AnimalDB | AmbienteDB | JDBC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4389120" y="36118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↓</a:t>
            </a:r>
            <a:endParaRPr lang="pt-P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8"/>
          <p:cNvSpPr/>
          <p:nvPr/>
        </p:nvSpPr>
        <p:spPr>
          <a:xfrm>
            <a:off x="1371600" y="3840480"/>
            <a:ext cx="6400440" cy="639720"/>
          </a:xfrm>
          <a:prstGeom prst="rect">
            <a:avLst/>
          </a:prstGeom>
          <a:solidFill>
            <a:srgbClr val="2c5f2d"/>
          </a:solidFill>
          <a:ln w="25400">
            <a:solidFill>
              <a:srgbClr val="2c5f2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27080" bIns="12708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MYSQL 8.0 (Remoto)</a:t>
            </a:r>
            <a:endParaRPr lang="pt-P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62.28.39.135:3306</a:t>
            </a:r>
            <a:endParaRPr lang="pt-P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Entidades e Relacionamentos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2160000" y="1080000"/>
            <a:ext cx="4512960" cy="3960000"/>
          </a:xfrm>
          <a:prstGeom prst="rect">
            <a:avLst/>
          </a:prstGeom>
          <a:solidFill>
            <a:srgbClr val="1e6a39"/>
          </a:solidFill>
          <a:ln w="0">
            <a:noFill/>
          </a:ln>
          <a:effectLst>
            <a:outerShdw dist="101823" dir="2700000" rotWithShape="0">
              <a:srgbClr val="808080"/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Programação Orientada a Objetos</a:t>
            </a:r>
            <a:endParaRPr lang="pt-PT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0" y="1097280"/>
            <a:ext cx="365724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1️. HERANÇA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Animal → Bovino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Reutilização de código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Propriedades protected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0" y="2286000"/>
            <a:ext cx="365724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2️. ENCAPSULAMENTO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Atributos private/protected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Validação em Setters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0" y="3474720"/>
            <a:ext cx="365724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3️. POLIMORFISMO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@Override toString()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ArrayList&lt;Animal&gt;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4680000" y="1154520"/>
            <a:ext cx="365724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4️. EXCEÇÕES PERSONALIZADAS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DadosInvalidosException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ConexaoBDException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4680000" y="2160000"/>
            <a:ext cx="365724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5️. VALIDAÇÃO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Método validar()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Múltiplas camadas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1921680" y="1828800"/>
            <a:ext cx="57250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Demonstração Prática</a:t>
            </a:r>
            <a:endParaRPr lang="pt-PT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1828800" y="292608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97bc62"/>
                </a:solidFill>
                <a:effectLst/>
                <a:uFillTx/>
                <a:latin typeface="Calibri"/>
              </a:rPr>
              <a:t>🔐 Tela de Login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2743200" y="384048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Credenciais de teste: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admin / admin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📋 Gestão de Bovinos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914400" y="1097280"/>
            <a:ext cx="3412080" cy="11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CAMPOS: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Nome, Raça, Peso, Idade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Linhagem (LEITE/CARNE/DUPLA_APTIDAO)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Produção de Leite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5029200" y="1097280"/>
            <a:ext cx="2000880" cy="146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VALIDAÇÕES: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Peso &gt; 0 kg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Idade ≥ 0 meses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Campos obrigatórios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Produção ≥ 0 litros/dia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3497040" y="2926080"/>
            <a:ext cx="2149560" cy="18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AÇÕES: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[Registar]</a:t>
            </a:r>
            <a:r>
              <a:rPr lang="en-US" sz="1400" b="0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  </a:t>
            </a:r>
            <a:r>
              <a:rPr lang="en-US" sz="1400" b="0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[Listar]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 </a:t>
            </a:r>
            <a:r>
              <a:rPr lang="en-US" sz="1400" b="0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[Apagar]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EXEMPLO: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✓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Nome: Mimosa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✓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Raça: Holstein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✓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Peso: 450 kg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✓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 Produção: 25.5 L/dia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🌡️ Monitorização Ambiental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1371600" y="1371600"/>
            <a:ext cx="2418120" cy="164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REGISTRO: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Local (texto livre)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Temperatura (°C)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Umidade (%)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Data automática (NOW())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3328200" y="3240000"/>
            <a:ext cx="2486880" cy="13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EXEMPLO:</a:t>
            </a:r>
            <a:endParaRPr lang="pt-P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📍 Local: Estábulo Principal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🌡️ Temperatura: 28.5°C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💧 Umidade: 75%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📅 Data: 2026-03-08 10:30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📊 Avaliação de Conforto Térmico</a:t>
            </a:r>
            <a:endParaRPr lang="pt-PT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914400" y="1005840"/>
            <a:ext cx="1838520" cy="13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PROCESSO: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1. Selecionar ambiente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2. [Gerar Avaliações]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3. Sistema calcula ITU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4. Classifica resultado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5409360" y="1005840"/>
            <a:ext cx="2583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FÓRMULA: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1" i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ITU = 0.8×T + (UR/100)×(T-14.4) + 46.4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3498480" y="2377440"/>
            <a:ext cx="2146320" cy="22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CLASSIFICAÇÃO:</a:t>
            </a:r>
            <a:endParaRPr lang="pt-P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✅ ITU &lt; 72 → CONFORTO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(Animal sem stress)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⚠️ 72 ≤ ITU &lt; 79 → ALERTA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(Atenção necessária)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❌ ITU ≥ 79 → ESTRESSE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(Ação urgente!)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Tratamento Robusto de Erros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2929680" y="1097280"/>
            <a:ext cx="32835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ourier New"/>
              </a:rPr>
              <a:t>ProjetoException (BASE)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ourier New"/>
                <a:ea typeface="Microsoft YaHei"/>
              </a:rPr>
              <a:t>↓         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ourier New"/>
              </a:rPr>
              <a:t>↓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ourier New"/>
              </a:rPr>
              <a:t>DadosInvalidos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ourier New"/>
              </a:rPr>
              <a:t> </a:t>
            </a: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ourier New"/>
              </a:rPr>
              <a:t>e ConexaoBD </a:t>
            </a: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ourier New"/>
              </a:rPr>
              <a:t>  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1371600" y="2743200"/>
            <a:ext cx="36572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VALIDAÇÕES: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Peso &gt; 0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Idade ≥ 0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Nomes não vazios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✓ Produção ≥ 0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4"/>
          <p:cNvSpPr/>
          <p:nvPr/>
        </p:nvSpPr>
        <p:spPr>
          <a:xfrm>
            <a:off x="5029200" y="2743200"/>
            <a:ext cx="1673280" cy="94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CAPTURA: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try-catch completo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Mensagens claras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JOptionPane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💻 Stack Tecnológica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0" y="109728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LINGUAGEM: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Java SE 21 (LTS)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NetBeans IDE 15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0" y="246888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INTERFACE: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Swing GUI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CardLayout, JTable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4860000" y="108000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BASE DE DADOS: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MySQL 8.0 (Remoto)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JDBC Connection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62.28.39.135:3306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4860000" y="2323080"/>
            <a:ext cx="3657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CONCEITOS: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Herança, Polimorfismo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Arquitetura em Camadas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• Exceções Personalizadas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✨ Pontos Fortes do Projeto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0" y="1097280"/>
            <a:ext cx="36572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1️. HERANÇA EXPLÍCITA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2 tabelas: Animal + Bovino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4622760" y="1080000"/>
            <a:ext cx="36572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2️. ARQUITETURA PROFISSIONAL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Separação de responsabilidades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0" y="2011680"/>
            <a:ext cx="36572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3️. VALIDAÇÃO MULTICAMADA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Interface → Service → Persistence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4680000" y="1968840"/>
            <a:ext cx="36572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4️. CÁLCULO CIENTÍFICO REAL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Fórmula ITU reconhecida mundialmente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0" y="2926080"/>
            <a:ext cx="36572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5️. INTERFACE INTUITIVA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Fácil de usar, feedback visual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7"/>
          <p:cNvSpPr/>
          <p:nvPr/>
        </p:nvSpPr>
        <p:spPr>
          <a:xfrm>
            <a:off x="4680000" y="2868840"/>
            <a:ext cx="3657240" cy="4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6️. BASE DADOS REMOTA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Acessível de qualquer lugar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🚀 Trabalho Futuro</a:t>
            </a:r>
            <a:endParaRPr lang="pt-PT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0" y="109728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📊 GRÁFICOS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Evolução do ITU ao longo do tempo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4680000" y="108000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📧 ALERTAS AUTOMÁTICOS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Email/SMS quando ITU crítico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0" y="201168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📄 RELATÓRIOS PDF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Estatísticas mensais/anuais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4680000" y="196884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🌍 MULTI-PROPRIEDADE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Gestão de várias fazendas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0" y="292608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📱 APP MOBILE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Android/iOS para acesso remoto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4680000" y="286884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c5f2d"/>
                </a:solidFill>
                <a:effectLst/>
                <a:uFillTx/>
                <a:latin typeface="Calibri"/>
              </a:rPr>
              <a:t>🤖 MACHINE LEARNING</a:t>
            </a:r>
            <a:endParaRPr lang="pt-P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12121"/>
                </a:solidFill>
                <a:effectLst/>
                <a:uFillTx/>
                <a:latin typeface="Calibri"/>
              </a:rPr>
              <a:t>Previsão e recomendações</a:t>
            </a:r>
            <a:endParaRPr lang="pt-P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1828800" y="731520"/>
            <a:ext cx="5486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✅ Conclusão</a:t>
            </a:r>
            <a:endParaRPr lang="pt-P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1371600" y="155448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Sistema funcional completo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Conceitos OOP aplicados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Arquitetura profissional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60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✓ Aplicação prática real</a:t>
            </a:r>
            <a:endParaRPr lang="pt-PT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1800000" y="3045960"/>
            <a:ext cx="5486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97bc62"/>
                </a:solidFill>
                <a:effectLst/>
                <a:uFillTx/>
                <a:latin typeface="Calibri"/>
              </a:rPr>
              <a:t>💡 IMPACTO:</a:t>
            </a: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0" u="none" strike="noStrike">
                <a:solidFill>
                  <a:srgbClr val="97bc62"/>
                </a:solidFill>
                <a:effectLst/>
                <a:uFillTx/>
                <a:latin typeface="Calibri"/>
              </a:rPr>
              <a:t>Ferramenta útil para melhorar</a:t>
            </a: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400"/>
              </a:spcAft>
            </a:pPr>
            <a:r>
              <a:rPr lang="en-US" sz="1800" b="0" u="none" strike="noStrike">
                <a:solidFill>
                  <a:srgbClr val="97bc62"/>
                </a:solidFill>
                <a:effectLst/>
                <a:uFillTx/>
                <a:latin typeface="Calibri"/>
              </a:rPr>
              <a:t>bem-estar animal e produtividade</a:t>
            </a:r>
            <a:endParaRPr lang="pt-P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2286000" y="4114800"/>
            <a:ext cx="4571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OBRIGADO!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Perguntas? 🙋</a:t>
            </a:r>
            <a:endParaRPr lang="pt-PT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pt-PT</dc:language>
  <cp:lastModifiedBy/>
  <dcterms:modified xsi:type="dcterms:W3CDTF">2026-03-09T02:04:37Z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